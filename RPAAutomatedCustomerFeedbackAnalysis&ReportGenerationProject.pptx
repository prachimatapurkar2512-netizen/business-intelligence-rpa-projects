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4"/>
  </p:sldMasterIdLst>
  <p:notesMasterIdLst>
    <p:notesMasterId r:id="rId13"/>
  </p:notesMasterIdLst>
  <p:handoutMasterIdLst>
    <p:handoutMasterId r:id="rId14"/>
  </p:handoutMasterIdLst>
  <p:sldIdLst>
    <p:sldId id="295" r:id="rId5"/>
    <p:sldId id="296" r:id="rId6"/>
    <p:sldId id="297" r:id="rId7"/>
    <p:sldId id="298" r:id="rId8"/>
    <p:sldId id="294" r:id="rId9"/>
    <p:sldId id="300" r:id="rId10"/>
    <p:sldId id="301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1293" autoAdjust="0"/>
  </p:normalViewPr>
  <p:slideViewPr>
    <p:cSldViewPr snapToGrid="0">
      <p:cViewPr varScale="1">
        <p:scale>
          <a:sx n="89" d="100"/>
          <a:sy n="89" d="100"/>
        </p:scale>
        <p:origin x="470" y="72"/>
      </p:cViewPr>
      <p:guideLst/>
    </p:cSldViewPr>
  </p:slideViewPr>
  <p:outlineViewPr>
    <p:cViewPr>
      <p:scale>
        <a:sx n="33" d="100"/>
        <a:sy n="33" d="100"/>
      </p:scale>
      <p:origin x="0" y="-48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81869F-F6FC-6A0D-CE07-6B540E550E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6B6C1-6185-79F5-23C8-927538634E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E86C-C6B4-424D-8295-67D3386172F0}" type="datetimeFigureOut">
              <a:rPr lang="en-US" smtClean="0"/>
              <a:t>2/15/2024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5153B-EAEA-CF1E-30D7-16C2E645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2AFB7-47EE-893B-5887-BDC37DCA5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94707-CAF6-40B0-A7EA-C5F3C63CB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1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88D07-B188-44E4-ABBB-6994C1A52936}" type="datetimeFigureOut">
              <a:rPr lang="en-US" smtClean="0"/>
              <a:t>2/15/2024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455A-0D23-4EAB-9AF9-2CC2B3066B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77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4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960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99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5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91440" bIns="548640" anchor="b" anchorCtr="0">
            <a:noAutofit/>
          </a:bodyPr>
          <a:lstStyle>
            <a:lvl1pPr>
              <a:defRPr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4431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08201"/>
            <a:ext cx="10058399" cy="3760891"/>
          </a:xfrm>
        </p:spPr>
        <p:txBody>
          <a:bodyPr lIns="91440">
            <a:normAutofit/>
          </a:bodyPr>
          <a:lstStyle>
            <a:lvl1pPr marL="347472" indent="-347472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3000"/>
            </a:lvl1pPr>
            <a:lvl2pPr>
              <a:spcBef>
                <a:spcPts val="1200"/>
              </a:spcBef>
              <a:spcAft>
                <a:spcPts val="200"/>
              </a:spcAft>
              <a:defRPr sz="3000"/>
            </a:lvl2pPr>
            <a:lvl3pPr>
              <a:spcBef>
                <a:spcPts val="1200"/>
              </a:spcBef>
              <a:spcAft>
                <a:spcPts val="200"/>
              </a:spcAft>
              <a:defRPr sz="3000"/>
            </a:lvl3pPr>
            <a:lvl4pPr>
              <a:spcBef>
                <a:spcPts val="1200"/>
              </a:spcBef>
              <a:spcAft>
                <a:spcPts val="200"/>
              </a:spcAft>
              <a:defRPr sz="3000"/>
            </a:lvl4pPr>
            <a:lvl5pPr>
              <a:spcBef>
                <a:spcPts val="1200"/>
              </a:spcBef>
              <a:spcAft>
                <a:spcPts val="200"/>
              </a:spcAft>
              <a:defRPr sz="3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85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4297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274320" rIns="822960" bIns="548640" anchor="b" anchorCtr="0">
            <a:noAutofit/>
          </a:bodyPr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3977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DBCCDB-B58C-45B3-9E63-49F7B0819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4334005"/>
            <a:ext cx="12192000" cy="25239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44128-E256-C1DC-AC6D-2BF10AC41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5212" y="4609578"/>
            <a:ext cx="10058400" cy="1295922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72A6B42-C371-4562-8E40-9EE1906C85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5212" y="5943600"/>
            <a:ext cx="10058400" cy="914400"/>
          </a:xfrm>
        </p:spPr>
        <p:txBody>
          <a:bodyPr lIns="9144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z="1500" dirty="0">
                <a:solidFill>
                  <a:schemeClr val="bg1"/>
                </a:solidFill>
              </a:rPr>
              <a:t>Click to add subtitle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8504FFB-1664-4F66-BC31-100C8DD983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B45578D-1855-4EC0-9E45-E1630D11AC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43400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93482C2-6151-4050-9F16-9952B0A017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8432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73466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82849"/>
            <a:ext cx="10058399" cy="3956692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8404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>
              <a:spcBef>
                <a:spcPts val="1200"/>
              </a:spcBef>
              <a:spcAft>
                <a:spcPts val="200"/>
              </a:spcAft>
              <a:defRPr sz="2400"/>
            </a:lvl3pPr>
            <a:lvl4pPr>
              <a:spcBef>
                <a:spcPts val="1200"/>
              </a:spcBef>
              <a:spcAft>
                <a:spcPts val="200"/>
              </a:spcAft>
              <a:defRPr sz="2400"/>
            </a:lvl4pPr>
            <a:lvl5pPr>
              <a:spcBef>
                <a:spcPts val="1200"/>
              </a:spcBef>
              <a:spcAft>
                <a:spcPts val="200"/>
              </a:spcAft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42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91440" bIns="822960" anchor="b" anchorCtr="0">
            <a:noAutofit/>
          </a:bodyPr>
          <a:lstStyle>
            <a:lvl1pPr>
              <a:defRPr sz="4800"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DF17D8-A326-44D6-A77D-42DA99E927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5389" y="4735798"/>
            <a:ext cx="6692313" cy="84584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85679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1" y="2183367"/>
            <a:ext cx="4998720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EAF6B01-7E55-3A14-DE85-588680B091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503438" y="2183367"/>
            <a:ext cx="4672294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006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286603"/>
            <a:ext cx="9966960" cy="14507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94560"/>
            <a:ext cx="6024003" cy="3754425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 marL="347472" indent="-347472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2194560"/>
            <a:ext cx="4067175" cy="3754425"/>
          </a:xfrm>
          <a:solidFill>
            <a:schemeClr val="tx1">
              <a:lumMod val="85000"/>
              <a:lumOff val="15000"/>
            </a:schemeClr>
          </a:solidFill>
        </p:spPr>
        <p:txBody>
          <a:bodyPr lIns="274320" tIns="274320" rIns="274320" bIns="274320">
            <a:normAutofit/>
          </a:bodyPr>
          <a:lstStyle>
            <a:lvl1pPr marL="512064" indent="-512064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65836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84124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3pPr>
            <a:lvl4pPr marL="102412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4pPr>
            <a:lvl5pPr marL="120700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1493E3-605E-569A-BC16-ACFDDE98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7280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83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and 2 Columns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676" y="286603"/>
            <a:ext cx="6024004" cy="17885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487FB7-F6EE-0454-5FB0-228B2EBC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30366" y="2166571"/>
            <a:ext cx="60301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E27ABCA-7CD7-B1C6-D787-E3B8959F7FE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9763" y="287338"/>
            <a:ext cx="4067175" cy="2801123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9763" y="3416796"/>
            <a:ext cx="4067175" cy="2801124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1676" y="2258012"/>
            <a:ext cx="6024003" cy="3959908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>
              <a:spcBef>
                <a:spcPts val="1200"/>
              </a:spcBef>
              <a:spcAft>
                <a:spcPts val="200"/>
              </a:spcAft>
              <a:defRPr sz="2000"/>
            </a:lvl2pPr>
            <a:lvl3pPr>
              <a:spcBef>
                <a:spcPts val="1200"/>
              </a:spcBef>
              <a:spcAft>
                <a:spcPts val="200"/>
              </a:spcAft>
              <a:defRPr sz="1600"/>
            </a:lvl3pPr>
            <a:lvl4pPr>
              <a:spcBef>
                <a:spcPts val="1200"/>
              </a:spcBef>
              <a:spcAft>
                <a:spcPts val="200"/>
              </a:spcAft>
              <a:defRPr sz="1600"/>
            </a:lvl4pPr>
            <a:lvl5pPr>
              <a:spcBef>
                <a:spcPts val="1200"/>
              </a:spcBef>
              <a:spcAft>
                <a:spcPts val="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9675" y="2286000"/>
            <a:ext cx="2391941" cy="324856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AA6B9BC-99C6-B9CE-63BB-C79284371A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40163" y="2286000"/>
            <a:ext cx="7315200" cy="3248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28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DE7C46-EBCB-4558-B868-C6E743BAE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474" y="640080"/>
            <a:ext cx="7229518" cy="51138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D5FBCAA-65CF-CE8D-2A57-F07A559D6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051" y="839520"/>
            <a:ext cx="6546596" cy="1729252"/>
          </a:xfrm>
        </p:spPr>
        <p:txBody>
          <a:bodyPr lIns="18288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A471100-D8FC-C6A3-1AB4-9E0BBF5AA8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5050" y="2878052"/>
            <a:ext cx="3152775" cy="2557463"/>
          </a:xfrm>
        </p:spPr>
        <p:txBody>
          <a:bodyPr lIns="9144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1FFC008-9C4B-BB79-13EF-E3E28AF0285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28872" y="2878052"/>
            <a:ext cx="3152775" cy="2557463"/>
          </a:xfrm>
        </p:spPr>
        <p:txBody>
          <a:bodyPr lIns="9144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4FE1E40-4668-3A25-AAEB-34B59D71BB2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556170" y="839520"/>
            <a:ext cx="2600779" cy="4915168"/>
          </a:xfrm>
          <a:noFill/>
        </p:spPr>
        <p:txBody>
          <a:bodyPr/>
          <a:lstStyle>
            <a:lvl1pPr marL="457200" indent="-4572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1pPr>
            <a:lvl2pPr marL="54406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2pPr>
            <a:lvl3pPr marL="72694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3pPr>
            <a:lvl4pPr marL="90982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4pPr>
            <a:lvl5pPr marL="109270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92754-9FDD-4637-8931-8898DCEA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4A9276-3942-47EA-B16C-FEF66FB6F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2128" y="2723126"/>
            <a:ext cx="646743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37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7AA6B9BC-99C6-B9CE-63BB-C79284371A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09357" y="2313432"/>
            <a:ext cx="9946006" cy="367083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470212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E322D5-1CC3-400A-A187-55543F0E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9485" y="640080"/>
            <a:ext cx="3690257" cy="2450676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3255512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59485" y="3429000"/>
            <a:ext cx="3690257" cy="2440094"/>
          </a:xfrm>
        </p:spPr>
        <p:txBody>
          <a:bodyPr lIns="9144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521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9674" y="2313432"/>
            <a:ext cx="9946005" cy="36708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8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17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D637E5-EBAC-4C88-BDAB-D589FAE7B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66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8720" y="2108201"/>
            <a:ext cx="996696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57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2" r:id="rId3"/>
    <p:sldLayoutId id="2147483753" r:id="rId4"/>
    <p:sldLayoutId id="2147483758" r:id="rId5"/>
    <p:sldLayoutId id="2147483732" r:id="rId6"/>
    <p:sldLayoutId id="2147483759" r:id="rId7"/>
    <p:sldLayoutId id="2147483755" r:id="rId8"/>
    <p:sldLayoutId id="2147483760" r:id="rId9"/>
    <p:sldLayoutId id="2147483761" r:id="rId10"/>
    <p:sldLayoutId id="2147483762" r:id="rId11"/>
    <p:sldLayoutId id="2147483763" r:id="rId12"/>
    <p:sldLayoutId id="2147483738" r:id="rId13"/>
    <p:sldLayoutId id="2147483722" r:id="rId14"/>
    <p:sldLayoutId id="2147483726" r:id="rId15"/>
    <p:sldLayoutId id="2147483727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rPbgAmEvxpphClqHG5nQ0kmyu5jWWkUm?usp=sharing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matapurkar@wisc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group of people sitting at a table">
            <a:extLst>
              <a:ext uri="{FF2B5EF4-FFF2-40B4-BE49-F238E27FC236}">
                <a16:creationId xmlns:a16="http://schemas.microsoft.com/office/drawing/2014/main" id="{6BEAD192-141F-FDDE-021B-8674B81EEC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C834208-78D3-55FF-0568-AC7434753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05101"/>
            <a:ext cx="9333781" cy="1539095"/>
          </a:xfrm>
        </p:spPr>
        <p:txBody>
          <a:bodyPr/>
          <a:lstStyle/>
          <a:p>
            <a:r>
              <a:rPr lang="en-US" sz="1800" b="1" dirty="0">
                <a:solidFill>
                  <a:srgbClr val="0D0D0D"/>
                </a:solidFill>
                <a:latin typeface="Söhne"/>
              </a:rPr>
              <a:t>GENBUS745: Robotic Process Automation</a:t>
            </a:r>
            <a:br>
              <a:rPr lang="en-US" sz="1800" b="1" dirty="0">
                <a:solidFill>
                  <a:srgbClr val="0D0D0D"/>
                </a:solidFill>
                <a:latin typeface="Söhne"/>
              </a:rPr>
            </a:br>
            <a:r>
              <a:rPr lang="en-US" sz="1800" b="1" dirty="0">
                <a:solidFill>
                  <a:srgbClr val="0D0D0D"/>
                </a:solidFill>
                <a:latin typeface="Söhne"/>
              </a:rPr>
              <a:t>Enhancing Customer Experience Through Automated Feedback Analysis &amp;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207687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4E67-57A4-9825-9E94-C2B258A6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3D74-CBD0-AEEC-7CF1-ED875B10D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399" cy="3760891"/>
          </a:xfrm>
        </p:spPr>
        <p:txBody>
          <a:bodyPr/>
          <a:lstStyle/>
          <a:p>
            <a:r>
              <a:rPr lang="en-US" dirty="0"/>
              <a:t>Introduction &amp; Process Overview</a:t>
            </a:r>
          </a:p>
          <a:p>
            <a:r>
              <a:rPr lang="en-US" dirty="0"/>
              <a:t>Benefits</a:t>
            </a:r>
          </a:p>
          <a:p>
            <a:r>
              <a:rPr lang="en-US" dirty="0"/>
              <a:t>Implementation &amp; Outcome</a:t>
            </a:r>
          </a:p>
          <a:p>
            <a:r>
              <a:rPr lang="en-US" dirty="0"/>
              <a:t>Business Use Cases</a:t>
            </a:r>
          </a:p>
        </p:txBody>
      </p:sp>
    </p:spTree>
    <p:extLst>
      <p:ext uri="{BB962C8B-B14F-4D97-AF65-F5344CB8AC3E}">
        <p14:creationId xmlns:p14="http://schemas.microsoft.com/office/powerpoint/2010/main" val="364816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6819-AA5B-295D-8572-4858952D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Introduction &amp; Process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3709-886B-3B06-E9F0-11D361B52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087055"/>
            <a:ext cx="10058399" cy="395669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Objective:</a:t>
            </a:r>
            <a:r>
              <a:rPr lang="en-US" b="0" i="0" dirty="0">
                <a:solidFill>
                  <a:schemeClr val="accent2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objective of this business case is to demonstrate the value of automating the analysis of customer feedback using Python and automatically generate a report with insightful visual.</a:t>
            </a:r>
          </a:p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Problem Statement:</a:t>
            </a:r>
            <a:r>
              <a:rPr lang="en-US" b="0" i="0" dirty="0">
                <a:solidFill>
                  <a:schemeClr val="accent2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Manual processing of customer feedback is time-consuming, prone to errors, and lacks scalability, hindering the ability to extract actionable insights in a timely manner.</a:t>
            </a:r>
          </a:p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Overview of the Process:</a:t>
            </a:r>
            <a:r>
              <a:rPr lang="en-US" b="0" i="0" dirty="0">
                <a:solidFill>
                  <a:schemeClr val="accent2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Our proposed solution involves automating the analysis of customer feedback data using Python programming and generate a report.</a:t>
            </a:r>
          </a:p>
          <a:p>
            <a:pPr algn="l"/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Automation Steps:</a:t>
            </a:r>
            <a:endParaRPr lang="en-US" b="0" i="0" dirty="0">
              <a:solidFill>
                <a:schemeClr val="accent2"/>
              </a:solidFill>
              <a:effectLst/>
              <a:latin typeface="Söhn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Retrieve feedback data from an Excel file.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Perform sentiment analysis on each feedback entry using a loop.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Categorize feedback into positive, neutral, or negative sentiment categories.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Generate a summary report of the sentiment analysis in a word document with an interactive visual.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73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AD8A-1DD0-5798-279E-723AFBF2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50FB-473C-3BEA-8431-B03765A8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83367"/>
            <a:ext cx="10058399" cy="3914850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Time Savings: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Manual processing of feedback data is labor-intensive and time-consuming. Automation streamlines the process, saving valuable time for the team.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Accuracy: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F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eedback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nalysis automation reduces the risk of human error, ensuring accurate sentiment analysis.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Efficiency: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This a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utomation frees up resources, allowing the team to focus on higher-value activities.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Timeliness: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It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provides timely insights, enabling swift action to address customer needs.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Scalability: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It can handle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increasing volumes of feedback data effortlessly, without compromising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21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1CDF-C16E-D9FB-0490-6752F3BA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9966960" cy="1450757"/>
          </a:xfrm>
        </p:spPr>
        <p:txBody>
          <a:bodyPr/>
          <a:lstStyle/>
          <a:p>
            <a:r>
              <a:rPr lang="en-US" sz="3600" b="1" dirty="0">
                <a:solidFill>
                  <a:schemeClr val="accent2"/>
                </a:solidFill>
              </a:rPr>
              <a:t>Implementation &amp; Outcome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8E5A-CF7D-4AEA-7B11-1CF53A729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94560"/>
            <a:ext cx="6024003" cy="375442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dirty="0">
                <a:solidFill>
                  <a:srgbClr val="0D0D0D"/>
                </a:solidFill>
                <a:latin typeface="Söhne"/>
              </a:rPr>
              <a:t>We have used Python for our automation and followed these steps -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Sentiment Analysis</a:t>
            </a:r>
            <a:r>
              <a:rPr lang="en-US" i="0" dirty="0">
                <a:solidFill>
                  <a:schemeClr val="accent2"/>
                </a:solidFill>
                <a:effectLst/>
                <a:latin typeface="Söhne"/>
              </a:rPr>
              <a:t>: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Utilized Python’s TextBlob library to analyze sentiment of feedback 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Söhne"/>
              </a:rPr>
              <a:t>Data Retrieval: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Read feedback data from an Excel file using for each loop for each customer.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Söhne"/>
              </a:rPr>
              <a:t>Summary Calculation: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Categorizes feedback into positive, neutral, or negative sentiments and calculates percentages.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Söhne"/>
              </a:rPr>
              <a:t>Document Creation: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Generates a Word document and adds summary report.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Visualization: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Creates a bar chart using Matplotlib and embeds it into the Word document.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Söhne"/>
              </a:rPr>
              <a:t>Report Generation:</a:t>
            </a:r>
            <a:r>
              <a:rPr lang="en-US" b="1" i="0" dirty="0">
                <a:solidFill>
                  <a:schemeClr val="accent2"/>
                </a:solidFill>
                <a:effectLst/>
                <a:latin typeface="Söhne"/>
              </a:rPr>
              <a:t> </a:t>
            </a:r>
            <a:r>
              <a:rPr lang="en-US" i="0" dirty="0">
                <a:solidFill>
                  <a:srgbClr val="0D0D0D"/>
                </a:solidFill>
                <a:effectLst/>
                <a:latin typeface="Söhne"/>
              </a:rPr>
              <a:t>Saves the final report document as 'feedback_summary_report.docx'.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501A28-CF1F-97DC-C8DE-5114AA7CC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283" y="2020389"/>
            <a:ext cx="4104066" cy="39285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42AABA-419E-D4CA-4233-821833F570CD}"/>
              </a:ext>
            </a:extLst>
          </p:cNvPr>
          <p:cNvSpPr txBox="1"/>
          <p:nvPr/>
        </p:nvSpPr>
        <p:spPr>
          <a:xfrm>
            <a:off x="6891410" y="5671986"/>
            <a:ext cx="4563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Snippet of Feedback Analysis Report Generated through Automation</a:t>
            </a:r>
          </a:p>
        </p:txBody>
      </p:sp>
    </p:spTree>
    <p:extLst>
      <p:ext uri="{BB962C8B-B14F-4D97-AF65-F5344CB8AC3E}">
        <p14:creationId xmlns:p14="http://schemas.microsoft.com/office/powerpoint/2010/main" val="265167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1126C3-E8A2-3CD0-697D-746CFC432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4" y="286603"/>
            <a:ext cx="9946006" cy="1450757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Use Cases of the Automation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DFD5A859-7BE6-2F6A-53BC-1952972D7768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76318389"/>
              </p:ext>
            </p:extLst>
          </p:nvPr>
        </p:nvGraphicFramePr>
        <p:xfrm>
          <a:off x="1209674" y="2165386"/>
          <a:ext cx="9913396" cy="36708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71927">
                  <a:extLst>
                    <a:ext uri="{9D8B030D-6E8A-4147-A177-3AD203B41FA5}">
                      <a16:colId xmlns:a16="http://schemas.microsoft.com/office/drawing/2014/main" val="3154437190"/>
                    </a:ext>
                  </a:extLst>
                </a:gridCol>
                <a:gridCol w="2867500">
                  <a:extLst>
                    <a:ext uri="{9D8B030D-6E8A-4147-A177-3AD203B41FA5}">
                      <a16:colId xmlns:a16="http://schemas.microsoft.com/office/drawing/2014/main" val="749559481"/>
                    </a:ext>
                  </a:extLst>
                </a:gridCol>
                <a:gridCol w="5173969">
                  <a:extLst>
                    <a:ext uri="{9D8B030D-6E8A-4147-A177-3AD203B41FA5}">
                      <a16:colId xmlns:a16="http://schemas.microsoft.com/office/drawing/2014/main" val="380103695"/>
                    </a:ext>
                  </a:extLst>
                </a:gridCol>
              </a:tblGrid>
              <a:tr h="225491">
                <a:tc>
                  <a:txBody>
                    <a:bodyPr/>
                    <a:lstStyle/>
                    <a:p>
                      <a:pPr fontAlgn="b"/>
                      <a:r>
                        <a:rPr lang="en-US" sz="1100" b="1" dirty="0">
                          <a:solidFill>
                            <a:schemeClr val="accent2"/>
                          </a:solidFill>
                          <a:effectLst/>
                        </a:rPr>
                        <a:t>Sector</a:t>
                      </a:r>
                    </a:p>
                  </a:txBody>
                  <a:tcPr marL="14615" marR="14615" marT="7307" marB="7307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 b="1" dirty="0">
                          <a:solidFill>
                            <a:schemeClr val="accent2"/>
                          </a:solidFill>
                          <a:effectLst/>
                        </a:rPr>
                        <a:t>Companies</a:t>
                      </a:r>
                    </a:p>
                  </a:txBody>
                  <a:tcPr marL="14615" marR="14615" marT="7307" marB="7307"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100" b="1" dirty="0">
                          <a:solidFill>
                            <a:schemeClr val="accent2"/>
                          </a:solidFill>
                          <a:effectLst/>
                        </a:rPr>
                        <a:t>Use Cases of feedback analysis automation</a:t>
                      </a:r>
                    </a:p>
                  </a:txBody>
                  <a:tcPr marL="14615" marR="14615" marT="7307" marB="7307" anchor="b"/>
                </a:tc>
                <a:extLst>
                  <a:ext uri="{0D108BD9-81ED-4DB2-BD59-A6C34878D82A}">
                    <a16:rowId xmlns:a16="http://schemas.microsoft.com/office/drawing/2014/main" val="2292418446"/>
                  </a:ext>
                </a:extLst>
              </a:tr>
              <a:tr h="395554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Retail and E-commerce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Amazon, Walmart, Alibaba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Product optimization, customer service improvement, online experience enhancement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86938285"/>
                  </a:ext>
                </a:extLst>
              </a:tr>
              <a:tr h="225491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Hospitality and Travel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Marriott, Airbnb, Expedia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Guest experience enhancement, online review management, complaint resolution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1963965173"/>
                  </a:ext>
                </a:extLst>
              </a:tr>
              <a:tr h="225491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Technology and Software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Google, Microsoft, Salesforce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Usability improvement, bug identification, customer support optimization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3068048911"/>
                  </a:ext>
                </a:extLst>
              </a:tr>
              <a:tr h="395554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Financial Services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JPMorgan Chase, Bank of America, PayPal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Online banking enhancement, customer service improvement, reputation management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2729867486"/>
                  </a:ext>
                </a:extLst>
              </a:tr>
              <a:tr h="395554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Healthcare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Pfizer, Johnson &amp; Johnson, UnitedHealth Group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Patient satisfaction improvement, healthcare service optimization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1554420371"/>
                  </a:ext>
                </a:extLst>
              </a:tr>
              <a:tr h="395554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Automotive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Toyota, BMW, Tesla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Vehicle feature enhancement, customer service improvement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2048128220"/>
                  </a:ext>
                </a:extLst>
              </a:tr>
              <a:tr h="225491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Telecommunications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AT&amp;T, Verizon, Vodafone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Service optimization, customer support improvement, reputation management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3365390950"/>
                  </a:ext>
                </a:extLst>
              </a:tr>
              <a:tr h="395554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Consumer Goods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Procter &amp; Gamble, Unilever, Coca-Cola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Consumer insight gathering, packaging optimization, brand reputation management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1437617669"/>
                  </a:ext>
                </a:extLst>
              </a:tr>
              <a:tr h="395554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Hospitality and Entertainment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Disney, Netflix, Hilton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Guest experience enhancement, content optimization, online reputation management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2442765808"/>
                  </a:ext>
                </a:extLst>
              </a:tr>
              <a:tr h="395554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Education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Pearson, Coursera, Khan Academy</a:t>
                      </a:r>
                    </a:p>
                  </a:txBody>
                  <a:tcPr marL="14615" marR="14615" marT="7307" marB="730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Student satisfaction improvement, e-learning platform optimization</a:t>
                      </a:r>
                    </a:p>
                  </a:txBody>
                  <a:tcPr marL="14615" marR="14615" marT="7307" marB="7307" anchor="ctr"/>
                </a:tc>
                <a:extLst>
                  <a:ext uri="{0D108BD9-81ED-4DB2-BD59-A6C34878D82A}">
                    <a16:rowId xmlns:a16="http://schemas.microsoft.com/office/drawing/2014/main" val="476317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91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D09C-5C83-C607-7CCF-0F6321FE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65CD0F2-CB11-BA58-6DFC-D41BE1D4633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09674" y="2165386"/>
            <a:ext cx="9946006" cy="3538727"/>
          </a:xfrm>
        </p:spPr>
        <p:txBody>
          <a:bodyPr>
            <a:normAutofit fontScale="85000" lnSpcReduction="20000"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Automated feedback analysis along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with automated report generation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using python offers a multitude of business use cases across various departments and functions, empowering organizations to leverage customer insights for strategic decision-making and competitive advantage.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Files –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productservice_feedback_data.xlsx </a:t>
            </a:r>
            <a:r>
              <a:rPr lang="en-US" dirty="0">
                <a:solidFill>
                  <a:schemeClr val="tx1"/>
                </a:solidFill>
              </a:rPr>
              <a:t>– Input Feedback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AutomatedFeedbackAnalyzer.ipynb </a:t>
            </a:r>
            <a:r>
              <a:rPr lang="en-US" dirty="0">
                <a:solidFill>
                  <a:schemeClr val="tx1"/>
                </a:solidFill>
              </a:rPr>
              <a:t>– Python Code Notebook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Google Colab link for the Python code notebook – </a:t>
            </a:r>
            <a:r>
              <a:rPr lang="en-US" b="1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https://colab.research.google.com/drive/1rPbgAmEvxpphClqHG5nQ0kmyu5jWWkUm?usp=sharing</a:t>
            </a:r>
            <a:endParaRPr lang="en-US" b="1" dirty="0">
              <a:solidFill>
                <a:schemeClr val="accent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feedback_summary_report.docx </a:t>
            </a:r>
            <a:r>
              <a:rPr lang="en-US" dirty="0">
                <a:solidFill>
                  <a:schemeClr val="tx1"/>
                </a:solidFill>
              </a:rPr>
              <a:t>– Feedback report generated by the automation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Chart.png </a:t>
            </a:r>
            <a:r>
              <a:rPr lang="en-US" dirty="0">
                <a:solidFill>
                  <a:schemeClr val="tx1"/>
                </a:solidFill>
              </a:rPr>
              <a:t>– Visual generated by automation which is embedded in the report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1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8C2A-D6A8-4036-9B23-884C3448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40080"/>
            <a:ext cx="3690257" cy="2450676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People in the background shaking hands">
            <a:extLst>
              <a:ext uri="{FF2B5EF4-FFF2-40B4-BE49-F238E27FC236}">
                <a16:creationId xmlns:a16="http://schemas.microsoft.com/office/drawing/2014/main" id="{7152A34F-5793-48E6-BC6E-4B7215AA9A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4"/>
          <a:stretch/>
        </p:blipFill>
        <p:spPr>
          <a:xfrm>
            <a:off x="630936" y="640080"/>
            <a:ext cx="6912864" cy="531266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55294-59B0-43EB-94D1-0BF9E1754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3429000"/>
            <a:ext cx="3690257" cy="2440094"/>
          </a:xfrm>
        </p:spPr>
        <p:txBody>
          <a:bodyPr vert="horz" lIns="91440" tIns="45720" rIns="0" bIns="45720" rtlCol="0" anchor="t">
            <a:normAutofit/>
          </a:bodyPr>
          <a:lstStyle/>
          <a:p>
            <a:r>
              <a:rPr lang="en-US" dirty="0"/>
              <a:t>Contact – </a:t>
            </a:r>
          </a:p>
          <a:p>
            <a:r>
              <a:rPr lang="en-US" dirty="0"/>
              <a:t>Prachi Matapurkar</a:t>
            </a:r>
          </a:p>
          <a:p>
            <a:r>
              <a:rPr lang="en-US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matapurkar@wisc.edu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MSBA – UW Madison</a:t>
            </a:r>
          </a:p>
        </p:txBody>
      </p:sp>
    </p:spTree>
    <p:extLst>
      <p:ext uri="{BB962C8B-B14F-4D97-AF65-F5344CB8AC3E}">
        <p14:creationId xmlns:p14="http://schemas.microsoft.com/office/powerpoint/2010/main" val="8507430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581678_Win32_SL_V4" id="{53171B14-1FF0-4C88-B9CD-F0E85CF10E07}" vid="{333F41EF-1580-4D1F-AB8F-02A3C3F8D8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FDF0338-C524-4CF6-9268-3569B65741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887178-918B-41B5-90B5-AF84E76A42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E6FD3E-3033-4D44-9759-980DCC3E7F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{B674311F-1D4B-41AC-9EAE-7CFA9A528E35}tf22581678_win32</Template>
  <TotalTime>84</TotalTime>
  <Words>694</Words>
  <Application>Microsoft Office PowerPoint</Application>
  <PresentationFormat>Widescreen</PresentationFormat>
  <Paragraphs>84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Söhne</vt:lpstr>
      <vt:lpstr>Wingdings</vt:lpstr>
      <vt:lpstr>Custom</vt:lpstr>
      <vt:lpstr>GENBUS745: Robotic Process Automation Enhancing Customer Experience Through Automated Feedback Analysis &amp; Report Generation</vt:lpstr>
      <vt:lpstr>Agenda</vt:lpstr>
      <vt:lpstr>Introduction &amp; Process Overview</vt:lpstr>
      <vt:lpstr>Benefits</vt:lpstr>
      <vt:lpstr>Implementation &amp; Outcome</vt:lpstr>
      <vt:lpstr>Use Cases of the Automation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GENBUS745: Robotic Process Automation Enhancing Customer Experience Through Automated Feedback Analysis &amp; Report Generation</dc:title>
  <dc:creator>Gaurav</dc:creator>
  <cp:lastModifiedBy>Gaurav</cp:lastModifiedBy>
  <cp:revision>5</cp:revision>
  <dcterms:created xsi:type="dcterms:W3CDTF">2024-02-16T00:42:44Z</dcterms:created>
  <dcterms:modified xsi:type="dcterms:W3CDTF">2024-02-16T04:15:36Z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